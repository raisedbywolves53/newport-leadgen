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Newport Wholesalers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D4A843"/>
                </a:solidFill>
                <a:latin typeface="Calibri"/>
              </a:defRPr>
            </a:pPr>
            <a:r>
              <a:t>Government Contract Entry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840480"/>
            <a:ext cx="4572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Prepared by Still Mind Creative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The Opportunity: $500M-$2B serviceable government food market in Florida alone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The Timing: Historic fraud crackdown creates a "flight to quality" — agencies want verifiable, legitimate American vendors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Newport's Moat: 25+ years of continuous Florida operations, real infrastructure, American ownership — exactly what scared procurement officers need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The Model: Newport's sales team builds relationships and closes deals. Still Mind Creative handles the government procurement bureaucracy.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The Currency: Credibility. Year 1 is about winning contracts — even small ones — to build a track record that compounds into larger wins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The Ask: 12-month pilot commitment. One salesperson assigned part-time. ~$8K-$12K in registrations and materials. Ongoing operational support from Still Mind Creative.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2A4A"/>
                </a:solidFill>
                <a:latin typeface="Calibri"/>
              </a:defRPr>
            </a:pPr>
            <a:r>
              <a:t>$35-50B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Total US Gov Food</a:t>
            </a:r>
            <a:br/>
            <a:r>
              <a:t>Market (Annual)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4630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2A4A"/>
                </a:solidFill>
                <a:latin typeface="Calibri"/>
              </a:defRPr>
            </a:pPr>
            <a:r>
              <a:t>$1.47B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Federal Food Spend</a:t>
            </a:r>
            <a:br/>
            <a:r>
              <a:t>FY2025 (Tracked)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2A4A"/>
                </a:solidFill>
                <a:latin typeface="Calibri"/>
              </a:defRPr>
            </a:pPr>
            <a:r>
              <a:t>$500M-2B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FL Serviceable</a:t>
            </a:r>
            <a:br/>
            <a:r>
              <a:t>Market (Annual)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4630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2A4A"/>
                </a:solidFill>
                <a:latin typeface="Calibri"/>
              </a:defRPr>
            </a:pPr>
            <a:r>
              <a:t>+15%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Federal Spend Growth</a:t>
            </a:r>
            <a:br/>
            <a:r>
              <a:t>(2-Year Trend)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Where the Money Is — Federal Food Spending by Agency (FY2025)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3749039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097280"/>
                <a:gridCol w="13716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FY2025 Spend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2-Year Growth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Newport Entry Path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Dept of Defense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$1.19B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 vendor relationship (Sysco/US Foods)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Dept of Agriculture (USDA)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$117M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+77%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USDA AMS Qualified Bidders List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Homeland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ICE detention facility supply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Dept of Justice (BOP)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 BOP institution supply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Dept of Veterans Affairs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 medical center food service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31520" y="6126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Note: Federal data only. State + local government food spending adds $25-40B+ annually (school districts, county jails, state prisons).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Why Now — The Fraud Crisis Creates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  <a:latin typeface="Calibri"/>
              </a:defRPr>
            </a:pPr>
            <a:r>
              <a:t>$6.8B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False Claims Act</a:t>
            </a:r>
            <a:br/>
            <a:r>
              <a:t>Recoveries (FY2025)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4630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  <a:latin typeface="Calibri"/>
              </a:defRPr>
            </a:pPr>
            <a:r>
              <a:t>1,091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8(a) Firms Suspended</a:t>
            </a:r>
            <a:br/>
            <a:r>
              <a:t>(25% of program)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  <a:latin typeface="Calibri"/>
              </a:defRPr>
            </a:pPr>
            <a:r>
              <a:t>$250M+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Feeding Our Future</a:t>
            </a:r>
            <a:br/>
            <a:r>
              <a:t>Fraud (MN)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46304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DOGE Contracts</a:t>
            </a:r>
            <a:br/>
            <a:r>
              <a:t>Terminated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What This Means for Newport: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Government procurement is in crisis mode — agencies are desperate for verifiable, legitimate vendors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The crackdown has created vendor gaps — suspended companies leave contracts that need new suppliers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Procurement officers are scared of bad press — they want vendors with provable track records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Small Business set-asides under increased scrutiny — legitimate small businesses (like Newport) gain advantage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The fraud environment makes Newport's 25-year American history a competitive weapon, not just a resume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94360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"Newport doesn't need to pretend to be something it's not. It IS what the government is looking for."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Newport's Competitive Moat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What scared procurement officers want to see — and what Newport already has: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25+ Years of Continuous Florida Operations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Real Warehouses (address verifiable)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Real Truck Fleet (branded, inspectable)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American-Owned, American Employees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American Tax Returns (25+ years)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Established Banking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Existing Supplier Relationships &amp; Product Breadth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Cold Chain Infrastructure (critical for food)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Florida Home State Advantage (local preference scoring)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Small Business Qualification (NAICS 424410, $200M threshold)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Sales Team That Knows How to Build Relationships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Clean Financial History (auditable, provable)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KEY ADVANTAGE: Small Business Set-Asides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~23% of federal contracts are set aside for small businesses. Newport qualifies under NAICS 424410 ($200M size standard). This locks out Sysco, US Foods, Aramark, and every other billion-dollar distributor. They literally cannot bid on these contracts.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Competitive Landscape — Where to Fight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Calibri"/>
              </a:defRPr>
            </a:pPr>
            <a:r>
              <a:t>DON'T FIGHT HERE (YET)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✗ DLA Prime Vendor mega-contracts (Sysco/US Foods stranglehold)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✗ National FSMC contracts (Aramark, Compass, Sodexo)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✗ Large multi-state school nutrition cooperatives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✗ Any contract requiring 5+ years government past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33"/>
                </a:solidFill>
                <a:latin typeface="Calibri"/>
              </a:defRPr>
            </a:pPr>
            <a:r>
              <a:t>FIGHT HERE (NOW)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Florida school district food supply (25 districts, local preference)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FL county jail self-operated kitchens (direct buyer!)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BOP institution supply (8 FL federal prisons)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VA medical center food service (7 FL VA hospitals)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Micro-purchases under $10K (no competition required)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Small business set-aside contracts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Sources Sought responses (shape future solicitations)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FEMA emergency food staging (FL hurricane season)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DUAL-PATH STRATEGY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5029200"/>
          <a:ext cx="10698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657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 Government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School districts, BOP, VA, county jails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Win contracts directly through bidding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1+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Private Contractor Supply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GEO Group, CoreCivic, Trinity, Aramark, Compass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Become approved vendor — they issue their own RFPs for food supply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2+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GEO Group HQ is in Boca Raton. Trinity HQ is in Oldsmar. Both are Florida companies — local meetings are possible this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Pipeline Is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We identified 69+ Florida decision makers and 10 sample opportunities — and this is just the beginning.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109728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Opportunity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Food Supply — FCI Coleman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Bureau of Prisons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Federal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School Nutrition Supply — Polk County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Polk County Schools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$180,000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IFB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Jail Food Supply — Hillsborough County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HCSO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Fresh Produce — VA Tampa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Dept of Veterans Affairs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Federal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$120,000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RFQ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Emergency Food Staging — FEMA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FEMA Region 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Federal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Pre-Sol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Dairy Products — NAS Jacksonville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Defense Logistics Agency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Federal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$200,000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Sources Sought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Snack &amp; Beverage — Seminole Schools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Seminole County Schools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Bakery Products — FL DOC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Florida DOC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$150,000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RFQ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30352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Active</a:t>
            </a:r>
            <a:br/>
            <a:r>
              <a:t>Opportunities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530352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$1.9M+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Total Pipeline</a:t>
            </a:r>
            <a:br/>
            <a: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30352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Expiring Contracts</a:t>
            </a:r>
            <a:br/>
            <a:r>
              <a:t>Tracked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530352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Sources Sought</a:t>
            </a:r>
            <a:br/>
            <a:r>
              <a:t>to Respond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Decision Makers Are Identifiable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2A4A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Contacts</a:t>
            </a:r>
            <a:br/>
            <a:r>
              <a:t>Identified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2A4A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Named</a:t>
            </a:r>
            <a:br/>
            <a:r>
              <a:t>Individuals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2A4A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65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With Phone</a:t>
            </a:r>
            <a:br/>
            <a:r>
              <a:t>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2A4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Data</a:t>
            </a:r>
            <a:br/>
            <a:r>
              <a:t>Cost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74320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097280"/>
                <a:gridCol w="1371600"/>
                <a:gridCol w="1371600"/>
                <a:gridCol w="10972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Category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Phone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School District Food Directors (Top 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 (92%)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 (100%)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(40%)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1-3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BOP Food Service Administrators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 (100%)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VA Nutrition &amp; Food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 (100%)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Military Commissary Directors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(80%)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(100%)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County Jail Food Service (Top 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(100%)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1-2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Private Contractors (GEO, CoreCivic, Trinity...)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Research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(100%)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BOP Wardens (Named)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(100%)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(100%)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152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"We know who buys the food. We know their phone numbers. Your salesperson needs to pick up the phone and start building relationships."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Operating Model — How This Actually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Newport Does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Still Mind Creative Does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Assigns 1 salesperson (part-time on gov)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Monitors SAM.gov, MFMP, DemandStar daily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Attends conferences &amp; facility visits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Scores and prioritizes opportunities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Builds relationships with decision makers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Drafts Sources Sought responses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Reviews and approves proposals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Prepares RFQ/RFP response drafts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Delivers the food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Tracks deadlines, compliance, registrations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Signs the contracts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Documents past performance after delivery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Collects the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Provides weekly pipeline dashboard reports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Calibri"/>
              </a:defRPr>
            </a:pPr>
            <a:r>
              <a:t>"Your team does what they're good at — selling and delivering.</a:t>
            </a:r>
            <a:br/>
            <a:r>
              <a:t>We handle the government procurement bureaucracy."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Calibri"/>
              </a:defRPr>
            </a:pPr>
            <a:r>
              <a:t>What Newport Does NOT Need to 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✗ Learn government procurement rules   ✗ Monitor bidding portals daily   ✗ Write proposals from scratch   ✗ Track compliance deadlines   ✗ Hire government sales specialists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Year 1 Roadmap — Track Record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FOUNDATION  |  Months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SAM.gov + MFMP registration live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Capability statement created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5 school district meetings scheduled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Sources Sought monitoring active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Contractor vendor applications submitted (GEO, Trinity, Aramark)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solidFill>
            <a:srgbClr val="2D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WINS  |  Months 3-6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5+ deliveries completed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3+ written references obtained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ACFSA / FSNA conference attended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10+ solicitations responded to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First micro-purchase contracts won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SCALE  |  Months 7-12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10+ contracts won (building credibility portfolio)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$100K-$500K cumulative revenue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FSMC approved vendor status (Aramark, Compass)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GPO membership (Foodbuy)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Past performance portfolio = 5+ verified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Key Insight: Year 1 success = contracts won (credibility), not revenue. The track record enables Year 2+ growth.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Success Metrics — Credibility Is the 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Year 1 is not about revenue. It's about winning as many contracts as possible — even small ones — to build a track record that proves Newport is trustworthy, reliable, and capable. Every contract won is a receipt. Receipts compound into credibility. Credibility wins bigger contracts.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846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Registrations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SAM.gov, MFMP, DemandStar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Can't bid without them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Solicitations Responded To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Each response builds competency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Sources Sought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Gets Newport on agency radars before bids drop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Contracts Won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 (any size)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primary metric — each win = credibility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Past Performance 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real asset — this is what wins Year 2 bids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Agency Relationships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 procurement officers know Newport by name?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Contractor Vendor Approvals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GEO, Trinity, Aramark = volume without bidding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$100K-$500K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Secondary to track record — nice to have, not the goal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28800" y="5760720"/>
            <a:ext cx="8229600" cy="73152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8064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Calibri"/>
              </a:defRPr>
            </a:pPr>
            <a:r>
              <a:t>"A $10,000 micro-purchase contract that generates a stellar past performance reference</a:t>
            </a:r>
            <a:br/>
            <a:r>
              <a:t>is worth more than $100,000 in revenue without documentation."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Investment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Newport Direct Costs (Year 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SAM.gov 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MyFloridaMarketPlace (MFMP)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Free-$25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DemandStar subscription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$0-$400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 memberships (ACFSA, FSNA)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Conference attendance (1 person, 2 events)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$1,500-$3,000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 scheduled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 statement &amp; sales materials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$300-$500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SQF Level 2 certification (if not held)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$3,000-$8,000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1-2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NEWPORT COSTS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$5,000-$12,000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Still Mind Creative Services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73736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 opportunity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scoring &amp; prioritization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Sources Sought responses (3/mo)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RFQ/RFP response drafts (2/mo)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 intelligence &amp;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Past performance documentation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 pipeline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Registration assistance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486400"/>
            <a:ext cx="1069848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Calibri"/>
              </a:defRPr>
            </a:pPr>
            <a:r>
              <a:t>ROI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 single school district food supply contract: $100K-$500K/year.  A single BOP institution supply contract: $200K-$1M/year.  One government contract win pays for the entire Year 1 investment multiple times over.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Compounding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Government past performance creates a flywheel. Each win makes the next bid stronger.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Contracts Won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15-30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$100K-$500K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$500K-$2M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$2M-$5M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 (15-20%)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$15K-$100K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$75K-$400K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$300K-$1M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Past Performance Refs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Agency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50+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Bid Win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10-20%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25-35%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35-50%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THE CREDIBILITY FLYWHEEL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8288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Win small</a:t>
            </a:r>
            <a:br/>
            <a:r>
              <a:t>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5029200"/>
            <a:ext cx="1828800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50749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Document</a:t>
            </a:r>
            <a:br/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5029200"/>
            <a:ext cx="18288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50749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Earn past</a:t>
            </a:r>
            <a:br/>
            <a:r>
              <a:t>performance refs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5029200"/>
            <a:ext cx="1828800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50749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Qualify for</a:t>
            </a:r>
            <a:br/>
            <a:r>
              <a:t>larger bids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5029200"/>
            <a:ext cx="18288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50749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Win bigger</a:t>
            </a:r>
            <a:br/>
            <a:r>
              <a:t>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Year 1 may not be profitable after investment. Year 2+ is where the model pays off. This is a market entry play, not a quick win.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Risk Factors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91440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Lose early bids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(expected)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Start with micro-purchases under $10K; learn evaluation criteria from each loss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Slow relationship building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Conference attendance; consistent follow-up; Sources Sought responses get you on the radar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SAM.gov registration delays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Start registration immediately — 30-45 day process; pursue state/local while waiting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Salesperson bandwidth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handles all admin so sales focuses 100% on relationships and closing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 incumbent on target contracts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Focus on set-asides, expiring contracts, and agencies with known vendor complaints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Certification requirements (SQF/HACCP)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Low-Medium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Identify requirements early; budget for certification if not already held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Setting Realistic Expectations: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Newport WILL lose some early bids. That's normal and expected. Every loss teaches something.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The first 3-6 months are groundwork. Visible results start in months 4-8.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Government sales cycles are 3-12 months. Patience is required.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The investment is modest relative to the opportunity. A single contract win justifies all Year 1 costs.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4572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3"/>
                </a:solidFill>
                <a:latin typeface="Calibri"/>
              </a:defRPr>
            </a:pPr>
            <a:r>
              <a:t>What We Need From Newport: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 Authorize initial investment (~$5,000-$12,000 for registrations, memberships, materials)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 Designate a government sales point person (8-10 hours/week initially)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 Commit to attending 1-2 industry conferences in Year 1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 Engage Still Mind Creative for ongoing operational support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 Be patient — Year 1 builds the foundation; ROI compounds in Years 2-3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843"/>
                </a:solidFill>
                <a:latin typeface="Calibri"/>
              </a:defRPr>
            </a:pPr>
            <a:r>
              <a:t>Immediate Next Steps: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484632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D4A8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Register on SAM.gov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(SMC assists)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Start immediately (30-45 day process)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Register on MyFloridaMarketPlace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(SMC assists)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Submit vendor applications to GEO Group + Trinity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drafts, Newport submits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1-2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Schedule 5 FL school district meetings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salesperson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Join ACFSA ($150) and FSNA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Begin Sources Sought monitoring + responses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Still Mind Creative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 from Day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Still Mind Creative LLC  |  Prepared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