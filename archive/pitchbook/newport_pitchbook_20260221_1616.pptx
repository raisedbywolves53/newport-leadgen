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Newport Wholesalers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D4A843"/>
                </a:solidFill>
                <a:latin typeface="Calibri"/>
              </a:defRPr>
            </a:pPr>
            <a:r>
              <a:t>Government Contract Entry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840480"/>
            <a:ext cx="4572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Prepared by Still Mind Creative LLC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B2A4A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Years in FL</a:t>
            </a:r>
            <a:br/>
            <a:r>
              <a:t>Food Wholesale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08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B2A4A"/>
                </a:solidFill>
                <a:latin typeface="Calibri"/>
              </a:defRPr>
            </a:pPr>
            <a:r>
              <a:t>$15-20M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57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Realistic 3-Year</a:t>
            </a:r>
            <a:br/>
            <a:r>
              <a:t>Pipeline (FL Only)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B2A4A"/>
                </a:solidFill>
                <a:latin typeface="Calibri"/>
              </a:defRPr>
            </a:pPr>
            <a:r>
              <a:t>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FL Decision Makers</a:t>
            </a:r>
            <a:br/>
            <a:r>
              <a:t>Already Identified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508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B2A4A"/>
                </a:solidFill>
                <a:latin typeface="Calibri"/>
              </a:defRPr>
            </a:pPr>
            <a:r>
              <a:t>$5-12K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57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Year 1 Investment</a:t>
            </a:r>
            <a:br/>
            <a:r>
              <a:t>(Registrations + Materials)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The Story in 60 Seconds: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Newport has spent 30 years building the exact infrastructure governments need: warehouses, trucks, cold chain, supplier relationships, and a track record of feeding people.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The federal government is in the middle of the largest fraud crackdown in procurement history. Agencies are desperate for verifiable, legitimate American vendors.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We've identified $15-20M in realistic, winnable Florida contracts over 3 years — school districts, county jails, federal prisons, and private contractor supply chains.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Newport's sales team builds relationships and closes deals. Still Mind Creative handles the government procurement bureaucracy — monitoring, proposals, compliance.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Year 1 is about winning contracts — even small ones — to build the credibility that compounds into larger wins. The investment is modest. The upside is a new revenue channel that transforms the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What Newport Can Actually Win in Florida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Not the total market. Not the fantasy. The contracts a Florida wholesale distributor can realistically bid and win.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4592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645920"/>
                <a:gridCol w="137160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 of Targets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Contract Value (Each)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Bid Window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3-Year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School District ITBs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(category bids: meat, dairy, frozen, produce)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 districts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(Top 25 by enrollment)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$2-10M per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Feb-May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(for July start)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$0-3M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(1-2 wins)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$5-15M/yr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County Jail Food Supply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(self-operated kitchens)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 confirmed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self-op counties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$1-3.5M/yr per county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 by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county cycle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$0-2M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(1 win)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$3-8M/yr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BOP Quarterly Subsistence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(8 FL federal prisons)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institutions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(FCC Coleman = largest)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$75K-2.5M/quarter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(constant cycle)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$0-500K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(1-2 quarters)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$1-3M/yr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Private Contractor Supply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(GEO, CoreCivic, Trinity, Aramark)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4-6 FL-based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Varies by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facility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 vendor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applications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Vendor approval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first orders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$1-3M/yr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USDA AMS / LFPA / FEMA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(commodity, emergency, food bank)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Multiple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$200K-5M 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Year-round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Applications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submitted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$500K-3M/yr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30352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33"/>
                </a:solidFill>
                <a:latin typeface="Calibri"/>
              </a:defRPr>
            </a:pPr>
            <a:r>
              <a:t>$1-2.5M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Year 1 Realistic</a:t>
            </a:r>
            <a:br/>
            <a:r>
              <a:t>Midpoint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530352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33"/>
                </a:solidFill>
                <a:latin typeface="Calibri"/>
              </a:defRPr>
            </a:pPr>
            <a:r>
              <a:t>$5-8M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Year 2 Realistic</a:t>
            </a:r>
            <a:br/>
            <a:r>
              <a:t>Midpoint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30352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33"/>
                </a:solidFill>
                <a:latin typeface="Calibri"/>
              </a:defRPr>
            </a:pPr>
            <a:r>
              <a:t>$10-15M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Year 3 Realistic</a:t>
            </a:r>
            <a:br/>
            <a:r>
              <a:t>Midpoint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5303520"/>
            <a:ext cx="24688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A33"/>
                </a:solidFill>
                <a:latin typeface="Calibri"/>
              </a:defRPr>
            </a:pPr>
            <a:r>
              <a:t>$15-20M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  <a:latin typeface="Calibri"/>
              </a:defRPr>
            </a:pPr>
            <a:r>
              <a:t>Cumulative</a:t>
            </a:r>
            <a:br/>
            <a:r>
              <a:t>3-Year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537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Source: Conservative projection based on FL district enrollment data, BOP population, county jail populations, and industry bid win rates (15-25% for new entrants).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Why Now — The Fraud Crisis Creates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97840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Happened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Newport Implication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False Claims Act recoveries hit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all-time record (FY2025)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$6.9 BILLION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(single fiscal year)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DOJ FCA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Annual Report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Procurement officers are terrified of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awarding to the wrong vendor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COVID pandemic program fraud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(PPP, EIDL, nutrition programs)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$200-300 BILLION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(cumulative est.)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GAO / OIG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Every new vendor faces heightened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scrutiny — legitimacy is a weapon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Feeding Our Future fraud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(MN school nutrition)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$250M stolen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 indicted, 56+ guilty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DOJ Press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Releases (2023-26)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School nutrition procurement under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microscope — clean vendors wanted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SBA 8(a) program — first audit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 50 years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1,091 firms suspended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(25% of program)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SBA OIG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(Jan-Feb 2026)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Set-aside contracts need legitimate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businesses to fill the gaps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Aramark class-action (Dec 2025) —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cutting meals, insect contamination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Multiple states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affected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Reuters /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Legal filings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Agencies losing faith in mega-FSMCs —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opening doors for alternatives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Trinity Services OK contract voided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after 4 weeks (June 2025)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State-level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 failure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OK DOC Public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Records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Even experienced gov contractors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are stumbling — room for new entrants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5760720"/>
            <a:ext cx="91440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4A843"/>
                </a:solidFill>
                <a:latin typeface="Calibri"/>
              </a:defRPr>
            </a:pPr>
            <a:r>
              <a:t>"Newport doesn't need to pretend to be something it's not.</a:t>
            </a:r>
            <a:br/>
            <a:r>
              <a:t>It IS what the government is looking for — a real company, with real infrastructure, real history."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Newport's Competitive Moat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What scared procurement officers want to see — and what Newport already has: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11612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Governments Verify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Newport's Position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Continuous business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30+ years in Florida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Proves stability — shell companies get caught in months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Physical infrastructure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Warehouses + truck fleet (address verifiable)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Inspectable, real — not a P.O. box and a dream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Cold chain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Existing refrigerated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Critical for food safety compliance (HACCP/SQF)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Financial stability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25+ years of American tax returns, banking relationships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Auditable, provable — the 8(a) frauds had none of this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business qualification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NAICS 424410 ($200M threshold)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Locks out Sysco, US Foods, Aramark from set-aside bids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Florida home state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Local presence, local preference scoring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state/county contracts give scoring advantage to FL vendors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Product breadth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Grocery + frozen + dairy + produce + dry goods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Single-vendor convenience for smaller agencies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Existing sales team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Experienced relationship builders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Government contracts are won in meetings, not on paper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KEY ADVANTAGE: ~23% of federal contracts are reserved for small businesses.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80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Newport qualifies. Sysco, US Foods, Aramark, Compass, and every other billion-dollar distributor do not. They are legally excluded from bidding on these contracts. This is not a nice-to-have — it is a structural advantage.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Where to Fight — And Where Not 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33"/>
                </a:solidFill>
                <a:latin typeface="Calibri"/>
              </a:defRPr>
            </a:pPr>
            <a:r>
              <a:t>FIGHT HERE — WIN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FL school district category ITBs (25 districts, lowest bid wins)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FL county jails — self-operated kitchens (Pinellas, Polk, Miami-Dade)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BOP quarterly subsistence (8 FL prisons, constant bid cycle)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Small business set-aside contracts (Sysco/US Foods locked out)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Private contractor vendor applications (GEO, Trinity — both in FL)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Sources Sought responses (shape future solicitations in your favor)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FEMA/FDEM emergency food staging (FL hurricane season)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✓ Simplified acquisitions $15K-$350K (posted on SAM.gov daily)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Calibri"/>
              </a:defRPr>
            </a:pPr>
            <a:r>
              <a:t>DON'T FIGHT HERE (YET)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✗ DLA Prime Vendor mega-contracts (Sysco/US Foods stranglehold)</a:t>
            </a:r>
          </a:p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✗ National FSMC contracts (Aramark, Compass, Sodexo)</a:t>
            </a:r>
          </a:p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✗ VA medical center food (locked under US Foods SPV through 2028)</a:t>
            </a:r>
          </a:p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✗ Large multi-state school nutrition cooperatives</a:t>
            </a:r>
          </a:p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✗ Contracts requiring 5+ years government past performance</a:t>
            </a:r>
          </a:p>
          <a:p>
            <a:pPr>
              <a:spcAft>
                <a:spcPts val="5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✗ Micro-purchases under $15K (not posted, relationship-dependent)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DUAL-PATH STRATEGY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029200"/>
          <a:ext cx="10332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It's Smart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Path 1: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 Government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School districts, BOP,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county jails, USDA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Win contracts directly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through competitive bidding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 past performance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direct agency relationships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Path 2: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Private Contractor Supply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GEO Group (Boca Raton),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Trinity (Oldsmar), CoreCivic,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Aramark, Compass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Become approved vendor —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they issue their own RFPs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 food supply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Volume without bidding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overhead — they manage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government contract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843"/>
                </a:solidFill>
                <a:latin typeface="Calibri"/>
              </a:defRPr>
            </a:pPr>
            <a:r>
              <a:t>GEO Group HQ: Boca Raton, FL. Trinity HQ: Oldsmar, FL. Local meetings are possible this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Pipeline Is Real — Florida Opportunities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Specific, identifiable FL contracts Newport can pursue in the next 12 months: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6459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554480"/>
                <a:gridCol w="1645920"/>
                <a:gridCol w="20116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Opportunity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Agency/Level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Est. Annual 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Bid Window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Entry Point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Category ITBs (meat, dairy,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frozen, produce, dry goods)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Polk County Schools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(105K students) — 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$5-10M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(across categories)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Feb-May 2026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(July start)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Lowest responsive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bid wins (FL law)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Category ITBs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Lee County Schools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(95K students) — Local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$4-8M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(across categories)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Feb-May 2026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Lowest responsive bid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Self-op kitchen food supply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Pinellas County Jail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(~3,100 inmates) — 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$2.5-3.5M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Check county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procurement 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 buyer —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FSMC middleman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Self-op kitchen food supply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Polk County Jail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(~2,600 inmates) — Local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$2.1-3.0M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Check county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procurement cycle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 buyer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subsistence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(meat, dairy, produce, bakery)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FCC Coleman Complex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(~7,100 inmates) — Federal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$6-10M/yr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($1.5-2.5M/qtr)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Quarterly: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Aug/Nov/Feb/May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business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set-aside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subsistence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FCI Miami + FDC Miami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(~2,100 inmates) — Federal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$1.5-3M/yr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Quarterly cycle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business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set-aside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Vendor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GEO Group HQ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(Boca Raton) — Contractor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Facility-dependent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 — apply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anytime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Approved vendor 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Vendor application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Trinity Services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(Oldsmar, FL) — Contractor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Facility-dependent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Approved vendor list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This is Florida only. The same scanning and analysis methodology scales to all 50 states. Nationwide simplified acquisitions ($15K-$350K) in food categories: 1,600-3,000 postings/year, $400M-$1.25B total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We Know Who Buys the Food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76 FL Decision Makers Identified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45920"/>
          <a:ext cx="5760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109728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Phone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School District Food Directors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 (92%)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BOP Food Service Administrators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 to ID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 Nutrition &amp; Food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Call to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Military Commissary Directors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 (80%)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County Jail Food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named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Private Contractors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HQ contacts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Named FSMC Regional Execs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 (100%)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BOP Wardens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(100%)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51206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Current data: $0 cost (public records, agency websites, gov directories). Full email enrichment via Apollo.io: ~$0.10/contact. Verified direct dials: ~$5-10/contact via ZoomInfo/Lusha.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Who Actually Decides (And Who Influences)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They Do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They Matter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Contracting Officer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(CO)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Legal authority to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 contracts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Final decision maker —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but relies on evaluators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Food Service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Administrator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Runs daily operations,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knows what works/doesn't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Writes the specs that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determine who can bid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Nutrition Director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(schools)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Sets menu requirements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 product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Their specs drive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purchasing decisions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Warden / Facility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Oversees entire facility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including food service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 push for vendor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changes if food = problems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End Users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(staff, inmates, students)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File complaints about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current vendor quality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Dissatisfaction with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incumbent = your opening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Calibri"/>
              </a:defRPr>
            </a:pPr>
            <a:r>
              <a:t>"Target the Food Service Administrators first — they write the specs that determine who wins. Then the Contracting Officers who sign the check."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How This Actually Works — The Division of Labor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Newport Does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Still Mind Creative Does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Assigns 1 salesperson (part-time on gov)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Monitors SAM.gov, MFMP, DemandStar daily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Attends conferences &amp; facility visits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Scores and prioritizes opportunities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Builds relationships with decision makers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Drafts Sources Sought responses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Reviews and approves proposals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Prepares RFQ/RFP response drafts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Delivers the food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Tracks deadlines, compliance, registrations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Signs the contracts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Documents past performance after delivery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Collects the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Provides weekly pipeline dashboard reports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371600" y="4846320"/>
            <a:ext cx="941832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"Your team does what they're already good at — selling and delivering.</a:t>
            </a:r>
            <a:br/>
            <a:r>
              <a:t>We handle the government procurement bureaucracy so they don't have to learn it."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Calibri"/>
              </a:defRPr>
            </a:pPr>
            <a:r>
              <a:t>What Newport Does NOT Need to 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✗ Learn government procurement rules   ✗ Monitor bidding portals daily   ✗ Write proposals from scratch   ✗ Track compliance deadlines   ✗ Hire government sales specialists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Roadmap: Quick Wins (Months 1-6)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FOUNDATION  |  Months 1-2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7432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Milestone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Register on SAM.gov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+ SMC assists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 (30-45 day process)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Active SAM registration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Register on MFMP + VendorLink + DemandStar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handles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1-2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Receiving FL bid alerts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government capability statement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drafts, Newport 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2-3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Sales-ready document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Submit GEO Group + Trinity vendor applications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drafts, Newport submits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2-3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 vendor pipeline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Schedule 5 school district meetings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salesperson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First relationships started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Begin Sources Sought monitoring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(ongoing)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Day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Shaping future solicitations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4114800"/>
            <a:ext cx="10698480" cy="411480"/>
          </a:xfrm>
          <a:prstGeom prst="rect">
            <a:avLst/>
          </a:prstGeom>
          <a:solidFill>
            <a:srgbClr val="2D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FIRST WINS  |  Months 3-6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5720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7432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Respond to 5+ school district ITBs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drafts, Newport 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Win 1-2 category bids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Lowest bid wins under FL law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Submit 4+ BOP quarterly subsistence bids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prepares, Newport prices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Win 1-2 quarterly contracts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Constant cycle = fast feedback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 Pinellas + Polk jail purchasing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salesperson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 on vendor list / bid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Self-op = direct buyer (no FSMC)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Attend ACFSA or FSNA conference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salesperson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10+ new agency relationships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Face time with decision makers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Respond to 5+ Sources Sought notices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handles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Shape future solicitations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 known before bids drop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Complete 5+ deliveries (any size)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operations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 written references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Building the credibility portfolio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Month 6 checkpoint: Are we winning bids? Building relationships? Getting known? If yes → scale. If not → adjust targeting, not abandon the channel.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Long-Term Build: From Channel to Division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Year 1 builds the foundation. Years 2-5 turn government into a full business division.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0332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347472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Revenue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Milestones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Changes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Florida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(Months 7-18)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$5-8M/yr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5-10 active contracts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15+ past perf. refs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FSMC vendor approvals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Dedicated gov salesperson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Bid win rate: 25-35%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Repeat BOP supplier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Regional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Expansion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(Months 19-30)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$10-15M/yr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Expand to GA, AL, SC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GPO membership (Foodbuy)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USDA AMS qualified bidder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Government division with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P&amp;L, dedicated ops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Multi-state presence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National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Years 4-5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$15-25M/yr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National bid capability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30+ agency relationships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Subcontracting on large IDIQs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Government = 20-30%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of Newport revenue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Transformed business profile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THE CREDIBILITY FLYWHEEL — Why Government Contracts Compound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18288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Win small</a:t>
            </a:r>
            <a:br/>
            <a:r>
              <a:t>contracts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937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4754880"/>
            <a:ext cx="1828800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48006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Deliver</a:t>
            </a:r>
            <a:br/>
            <a:r>
              <a:t>excellently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937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754880"/>
            <a:ext cx="18288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48006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Earn past</a:t>
            </a:r>
            <a:br/>
            <a:r>
              <a:t>performance refs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937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754880"/>
            <a:ext cx="1828800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8006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2A4A"/>
                </a:solidFill>
                <a:latin typeface="Calibri"/>
              </a:defRPr>
            </a:pPr>
            <a:r>
              <a:t>Qualify for</a:t>
            </a:r>
            <a:br/>
            <a:r>
              <a:t>larger bids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9377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4754880"/>
            <a:ext cx="18288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80060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Win bigger</a:t>
            </a:r>
            <a:br/>
            <a:r>
              <a:t>contracts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Calibri"/>
              </a:defRPr>
            </a:pPr>
            <a:r>
              <a:t>SCALABILITY: The scanning and analysis tools built for this pilot are automated.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The same pipeline that finds FL opportunities today can scan all 50 states tomorrow. 1,600-3,000 food procurement postings/year nationwide, $400M-$1.25B in contract value — all filterable, scorable, trackable.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Success Metrics — Credibility Is the 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Year 1 is not about revenue. It's about winning contracts — even small ones — to build a track record. Every contract won is a receipt. Receipts compound into credibility. Credibility wins bigger contracts.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920240"/>
          <a:ext cx="9784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 Target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Registrations 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SAM, MFMP,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DemandStar, VendorLink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USDA AMS, GPO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membership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Can't bid without them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Bids Submitted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10-17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28-43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Each bid builds competency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 gets your name known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Sources Sought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Gets Newport on agency radars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before solicitations drop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Contracts Won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1-4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(any size)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5-13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primary metric — each win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= past performance currency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Past Performance 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This is what wins Year 2+ bids.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real asset.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Agency Relationships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 procurement officers know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by name?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Contractor Vendor Approvals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GEO, Trinity, Aramark =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volume without bidding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$1-2.5M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$5-8M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Important but secondary to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track record in Year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828800" y="5760720"/>
            <a:ext cx="8229600" cy="73152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8064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Calibri"/>
              </a:defRPr>
            </a:pPr>
            <a:r>
              <a:t>"A $10,000 micro-purchase contract that generates a stellar past performance reference</a:t>
            </a:r>
            <a:br/>
            <a:r>
              <a:t>is worth more than $100,000 in revenue without documentation."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Investment — What It Takes to Get Started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Newport brings the infrastructure and relationships. Still Mind Creative brings the procurement expertise. Neither can do this alone — together, it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Newport's Investment (Year 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01168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SAM.gov registration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MFMP + VendorLink + DemandStar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$0-$400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Industry memberships (ACFSA, FSNA)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2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Conference attendance (1 person, 2 events)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$1,500-$3,000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 scheduled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Capability statement + sales 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$300-$500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SQF/HACCP certification (if not held)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$3,000-$8,000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Month 1-2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Salesperson time (8-10 hrs/week)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Existing staff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$5,000-$12,000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Still Mind Creative's Contribution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01168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Opportunity monitoring (SAM, MFMP, DemandStar)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Daily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scoring &amp; prioritization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Sources Sought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3-5/month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RFQ/RFP response drafts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2-3/month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 intelligence &amp;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Past performance documentation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 delivery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dashboard reports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Weekly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Registration &amp; compliance tracking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486400"/>
            <a:ext cx="1069848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Calibri"/>
              </a:defRPr>
            </a:pPr>
            <a:r>
              <a:t>THE 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One school district category win: $2-10M/year.  One BOP quarterly contract: $200K-2.5M.  One county jail supply contract: $1-3.5M/year.</a:t>
            </a:r>
            <a:br/>
            <a:r>
              <a:t>A single win pays for the entire Year 1 investment many times over. The question isn't whether government contracts are worth pursuing — it's whether you want to start now or let someone else take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The Compounding Effect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5 (projected)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Contracts Won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12-22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30-50+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$1-2.5M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$5-8M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$10-15M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$15-25M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Gross Margin (15-20%)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$150K-$500K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$750K-$1.6M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$1.5-$3M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$2.5-$5M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Past Performance Refs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3-5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10-15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20-30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Bid Win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25-35%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35-50%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40-55%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States Active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only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+ 1-2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FL + 3-4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Southeast region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% of Newport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1-3%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10-15%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20-30%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WHY GOVERNMENT CONTRACTS COMPOUND (AND PRIVATE SECTOR DOESN'T)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5029200"/>
          <a:ext cx="9418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Private Sector</a:t>
                      </a:r>
                    </a:p>
                  </a:txBody>
                  <a:tcPr anchor="ctr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Government Contracting</a:t>
                      </a:r>
                    </a:p>
                  </a:txBody>
                  <a:tcPr anchor="ctr">
                    <a:solidFill>
                      <a:srgbClr val="6666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Each sale is independent — start from 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Each contract creates documented past performance that helps win the next one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Relationships are informal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Relationships are formalized in evaluation criteria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Competitors can undercut you anytime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Incumbents with strong past performance are hard to displace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Revenue is revenue — it doesn't change what the business IS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Government contracts transform the business's profile and value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2A4A"/>
                </a:solidFill>
                <a:latin typeface="Calibri"/>
              </a:defRPr>
            </a:pPr>
            <a:r>
              <a:t>A food distributor with government contracts, past performance documentation, and active agency relationships is a fundamentally different business than one without — in capability, in recurring revenue, and in what it's worth.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Risks — Both Sides of the Coin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8A00"/>
                </a:solidFill>
                <a:latin typeface="Calibri"/>
              </a:defRPr>
            </a:pPr>
            <a:r>
              <a:t>Execution Risks (What Could Slow Us Down)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4592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Lose early bids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(expected)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Start with micro + simplified acq.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Every loss teaches eval criteria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Slow relationship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Conference attendance + consistent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follow-up + Sources Sought = radar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SAM.gov registration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delays (30-45 days)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Start immediately. Pursue FL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state/local while waiting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Strong incumbent 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target contracts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Focus on set-asides, expiring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contracts, agencies with complaints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Certification gaps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(SQF/HACCP)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Low-Med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Identify requirements early.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Budget for cert if not held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Salesperson bandwidth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handles all admin = salesperson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focuses 100% on relationships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Strategic Risk (The Bigger Question)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If Newport...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Then...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Enters government contracting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 it takes longer than expected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You've built registrations, relationships,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 capabilities that compound.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investment was modest.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Enters government contracting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 wins early contracts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You've opened a new channel that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could reach $10-15M/yr by Year 3.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business is fundamentally stronger.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Does nothing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fraud crackdown window closes.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Competitors register first.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The opportunity doesn't wait.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42976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The execution risks are real and manageable — they're the normal cost of entering a new market. We mitigate them by starting small, learning fast, and adjusting.</a:t>
            </a:r>
            <a:br/>
            <a:br/>
            <a:r>
              <a:t>The strategic risk is the one that matters: this window won't stay open forever.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Calibri"/>
              </a:defRPr>
            </a:pPr>
            <a:r>
              <a:t>"Newport has been doing the hard part for 30 years — building real infrastructure.</a:t>
            </a:r>
            <a:br/>
            <a:r>
              <a:t>The only question is whether to put that infrastructure to work in a market</a:t>
            </a:r>
            <a:br/>
            <a:r>
              <a:t>that desperately needs what you already have."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Happens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914400"/>
            <a:ext cx="4572000" cy="381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843"/>
                </a:solidFill>
                <a:latin typeface="Calibri"/>
              </a:defRPr>
            </a:pPr>
            <a:r>
              <a:t>The First 30 Days: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18288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Week</a:t>
                      </a:r>
                    </a:p>
                  </a:txBody>
                  <a:tcPr anchor="ctr"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B2A4A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D4A8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Start SAM.gov registration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Register on MFMP + VendorLink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+ SMC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 the system — clock starts on 30-45 day SAM approval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1-2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Submit vendor applications to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GEO Group + Trinity + Aramark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drafts,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submits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 the pipeline for private contractor supply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2-3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capability statement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and government sales 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SMC creates,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 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Professional materials ready for agency meetings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Week 2-4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Schedule first 5 FL school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district procurement meetings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Newport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salesperson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Face-to-face relationships with decision makers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Begin daily opportunity monitoring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 Sources Sought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Still Mind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building starts immediately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Calibri"/>
              </a:defRPr>
            </a:pPr>
            <a:r>
              <a:t>What Newport Commits: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✓  Authorize ~$5-12K for registrations + materials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✓  Assign 1 salesperson (8-10 hrs/week)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✓  Attend 1-2 industry conferences in Year 1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✓  12-month pilot commitment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Calibri"/>
              </a:defRPr>
            </a:pPr>
            <a:r>
              <a:t>What Still Mind Creative Commits: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✓  Daily opportunity monitoring across all portals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✓  All proposal and response drafting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✓  Pipeline scoring, tracking, and reporting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✓  Full procurement compliance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Still Mind Creative LLC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