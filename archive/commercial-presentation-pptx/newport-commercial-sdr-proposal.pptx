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5A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700000">
            <a:off x="-457200" y="5029200"/>
            <a:ext cx="3657600" cy="3657600"/>
          </a:xfrm>
          <a:prstGeom prst="rect">
            <a:avLst/>
          </a:prstGeom>
          <a:solidFill>
            <a:srgbClr val="1C7293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1800000">
            <a:off x="7315200" y="-914400"/>
            <a:ext cx="2743200" cy="2743200"/>
          </a:xfrm>
          <a:prstGeom prst="rect">
            <a:avLst/>
          </a:prstGeom>
          <a:solidFill>
            <a:srgbClr val="21295C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645920"/>
            <a:ext cx="76809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Systematic Growth</a:t>
            </a:r>
            <a:endParaRPr lang="en-US" sz="3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 Newport Wholesalers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1520" y="347472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FFFFFF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Years of Relationships.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FFFFFF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Now: Scale with Intelligence.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603504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Still Mind Creative  |  February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Newport Stands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3840480" cy="2103120"/>
          </a:xfrm>
          <a:prstGeom prst="roundRect">
            <a:avLst>
              <a:gd name="adj" fmla="val 4348"/>
            </a:avLst>
          </a:prstGeom>
          <a:solidFill>
            <a:srgbClr val="E0F2FE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155448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 Years of Wholesale Success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85800" y="2057400"/>
            <a:ext cx="33832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Relationships built over 3 decades. Real warehouse, fleet, W-2 workforce. A foundation competitors can’t replicate overnight.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663440" y="1371600"/>
            <a:ext cx="3840480" cy="2103120"/>
          </a:xfrm>
          <a:prstGeom prst="roundRect">
            <a:avLst>
              <a:gd name="adj" fmla="val 4348"/>
            </a:avLst>
          </a:prstGeom>
          <a:solidFill>
            <a:srgbClr val="E0F2FE"/>
          </a:solidFill>
          <a:ln/>
        </p:spPr>
      </p:sp>
      <p:sp>
        <p:nvSpPr>
          <p:cNvPr id="7" name="Text 5"/>
          <p:cNvSpPr/>
          <p:nvPr/>
        </p:nvSpPr>
        <p:spPr>
          <a:xfrm>
            <a:off x="4892040" y="155448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Strong Existing Business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892040" y="2057400"/>
            <a:ext cx="33832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Established customer base across grocery, foodservice, and confectionery. Revenue grows when salespeople sell.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3840480"/>
            <a:ext cx="3840480" cy="2103120"/>
          </a:xfrm>
          <a:prstGeom prst="roundRect">
            <a:avLst>
              <a:gd name="adj" fmla="val 4348"/>
            </a:avLst>
          </a:prstGeom>
          <a:solidFill>
            <a:srgbClr val="E0F2FE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402336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Growth Bottleneck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85800" y="4526280"/>
            <a:ext cx="33832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grows when salespeople make calls. When they stop, it stops. No systematic pipeline. No repeatable prospecting engine.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63440" y="3840480"/>
            <a:ext cx="3840480" cy="2103120"/>
          </a:xfrm>
          <a:prstGeom prst="roundRect">
            <a:avLst>
              <a:gd name="adj" fmla="val 4348"/>
            </a:avLst>
          </a:prstGeom>
          <a:solidFill>
            <a:srgbClr val="E8F5E9"/>
          </a:solidFill>
          <a:ln/>
        </p:spPr>
      </p:sp>
      <p:sp>
        <p:nvSpPr>
          <p:cNvPr id="13" name="Text 11"/>
          <p:cNvSpPr/>
          <p:nvPr/>
        </p:nvSpPr>
        <p:spPr>
          <a:xfrm>
            <a:off x="4892040" y="402336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Opportunity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892040" y="4526280"/>
            <a:ext cx="33832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prospecting adds repeatable scale without replacing what works. Systematic outbound across 5 growth segments.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Opportunity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463040"/>
            <a:ext cx="2560320" cy="2743200"/>
          </a:xfrm>
          <a:prstGeom prst="roundRect">
            <a:avLst>
              <a:gd name="adj" fmla="val 3571"/>
            </a:avLst>
          </a:prstGeom>
          <a:solidFill>
            <a:srgbClr val="E0F2F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645920"/>
            <a:ext cx="25603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8K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94360" y="2834640"/>
            <a:ext cx="2286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Addressable Companies</a:t>
            </a:r>
            <a:endParaRPr lang="en-US" sz="12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5 ICP Segments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383280" y="1463040"/>
            <a:ext cx="2560320" cy="2743200"/>
          </a:xfrm>
          <a:prstGeom prst="roundRect">
            <a:avLst>
              <a:gd name="adj" fmla="val 3571"/>
            </a:avLst>
          </a:prstGeom>
          <a:solidFill>
            <a:srgbClr val="E0F2FE"/>
          </a:solidFill>
          <a:ln/>
        </p:spPr>
      </p:sp>
      <p:sp>
        <p:nvSpPr>
          <p:cNvPr id="7" name="Text 5"/>
          <p:cNvSpPr/>
          <p:nvPr/>
        </p:nvSpPr>
        <p:spPr>
          <a:xfrm>
            <a:off x="3383280" y="1645920"/>
            <a:ext cx="25603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$225.1M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3520440" y="2834640"/>
            <a:ext cx="2286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Segment TAM</a:t>
            </a:r>
            <a:endParaRPr lang="en-US" sz="12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(Companies x Deal Sizes)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309360" y="1463040"/>
            <a:ext cx="2560320" cy="2743200"/>
          </a:xfrm>
          <a:prstGeom prst="roundRect">
            <a:avLst>
              <a:gd name="adj" fmla="val 3571"/>
            </a:avLst>
          </a:prstGeom>
          <a:solidFill>
            <a:srgbClr val="E0F2FE"/>
          </a:solidFill>
          <a:ln/>
        </p:spPr>
      </p:sp>
      <p:sp>
        <p:nvSpPr>
          <p:cNvPr id="10" name="Text 8"/>
          <p:cNvSpPr/>
          <p:nvPr/>
        </p:nvSpPr>
        <p:spPr>
          <a:xfrm>
            <a:off x="6309360" y="1645920"/>
            <a:ext cx="25603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6446520" y="2834640"/>
            <a:ext cx="2286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Distinct Growth Segments</a:t>
            </a:r>
            <a:endParaRPr lang="en-US" sz="12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Enterprise Grocery</a:t>
            </a:r>
            <a:endParaRPr lang="en-US" sz="12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Candy Wholesale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457200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prospecting identifies, enriches, and engages decision-makers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all 5 segments — systematically, at scale.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640080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Apollo.io coverage estimates, ICP definitions, commercial model — Feb 2026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Five Growth Segments</a:t>
            </a:r>
            <a:endParaRPr lang="en-US" sz="36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371600"/>
          <a:ext cx="859536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554480"/>
                <a:gridCol w="1097280"/>
                <a:gridCol w="1097280"/>
                <a:gridCol w="1097280"/>
                <a:gridCol w="137160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Segment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Pipeline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Geography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Companies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Avg Deal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Priority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E7D32"/>
                          </a:solidFill>
                        </a:rPr>
                        <a:t>A: Enterprise Grocery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E7D32"/>
                          </a:solidFill>
                        </a:rPr>
                        <a:t>Direct-to-customer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E7D32"/>
                          </a:solidFill>
                        </a:rPr>
                        <a:t>US/UK/EU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E7D32"/>
                          </a:solidFill>
                        </a:rPr>
                        <a:t>2,000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E7D32"/>
                          </a:solidFill>
                        </a:rPr>
                        <a:t>$50K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E7D32"/>
                          </a:solidFill>
                        </a:rPr>
                        <a:t>★ Priority 1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B: Manufacturers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Partner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US/UK/EU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3,000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$25K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Priority 2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C: Gov Buyers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Direct-to-customer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US only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500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$15K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Priority 3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D: Corrections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Direct-to-customer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US only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200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$30K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Priority 3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E7D32"/>
                          </a:solidFill>
                        </a:rPr>
                        <a:t>E: Candy/Confectionery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E7D32"/>
                          </a:solidFill>
                        </a:rPr>
                        <a:t>Partner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E7D32"/>
                          </a:solidFill>
                        </a:rPr>
                        <a:t>US/LATAM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E7D32"/>
                          </a:solidFill>
                        </a:rPr>
                        <a:t>1,831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E7D32"/>
                          </a:solidFill>
                        </a:rPr>
                        <a:t>$20K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E7D32"/>
                          </a:solidFill>
                        </a:rPr>
                        <a:t>★ Priority 1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65A82"/>
                          </a:solidFill>
                        </a:rPr>
                        <a:t>TOTAL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65A82"/>
                          </a:solidFill>
                        </a:rPr>
                        <a:t>7,531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65A82"/>
                          </a:solidFill>
                        </a:rPr>
                        <a:t>$28K avg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548640" y="548640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Segments A (Enterprise Grocery) and E (Candy/Confectionery) are Priority 1 — highest deal density and strongest Newport fit.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548640" y="640080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ICP definitions, Apollo.io coverage, commercial model — Feb 2026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It Works: Find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772400" y="32004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of 4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3840480" cy="2194560"/>
          </a:xfrm>
          <a:prstGeom prst="roundRect">
            <a:avLst>
              <a:gd name="adj" fmla="val 4167"/>
            </a:avLst>
          </a:prstGeom>
          <a:solidFill>
            <a:srgbClr val="F3F4F6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50876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Apollo.io Search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85800" y="1965960"/>
            <a:ext cx="33832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contact discovery across all 5 segments. 60-70% US coverage. Filters by title, seniority, company size, NAICS code.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663440" y="1371600"/>
            <a:ext cx="3840480" cy="2194560"/>
          </a:xfrm>
          <a:prstGeom prst="roundRect">
            <a:avLst>
              <a:gd name="adj" fmla="val 4167"/>
            </a:avLst>
          </a:prstGeom>
          <a:solidFill>
            <a:srgbClr val="F3F4F6"/>
          </a:solidFill>
          <a:ln/>
        </p:spPr>
      </p:sp>
      <p:sp>
        <p:nvSpPr>
          <p:cNvPr id="8" name="Text 6"/>
          <p:cNvSpPr/>
          <p:nvPr/>
        </p:nvSpPr>
        <p:spPr>
          <a:xfrm>
            <a:off x="4892040" y="150876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LinkedIn Intelligence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892040" y="1965960"/>
            <a:ext cx="33832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enrichment for high-value targets. Decision-maker mapping. Company org charts and buying committee identification.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7200" y="3931920"/>
            <a:ext cx="3840480" cy="2194560"/>
          </a:xfrm>
          <a:prstGeom prst="roundRect">
            <a:avLst>
              <a:gd name="adj" fmla="val 4167"/>
            </a:avLst>
          </a:prstGeom>
          <a:solidFill>
            <a:srgbClr val="F3F4F6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406908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Industry Databases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85800" y="4526280"/>
            <a:ext cx="33832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NAICS 424450 (1,831 candy firms), trade show exhibitor lists, CDA/NCA directories. Census data for market sizing.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663440" y="3931920"/>
            <a:ext cx="3840480" cy="2194560"/>
          </a:xfrm>
          <a:prstGeom prst="roundRect">
            <a:avLst>
              <a:gd name="adj" fmla="val 4167"/>
            </a:avLst>
          </a:prstGeom>
          <a:solidFill>
            <a:srgbClr val="F3F4F6"/>
          </a:solidFill>
          <a:ln/>
        </p:spPr>
      </p:sp>
      <p:sp>
        <p:nvSpPr>
          <p:cNvPr id="14" name="Text 12"/>
          <p:cNvSpPr/>
          <p:nvPr/>
        </p:nvSpPr>
        <p:spPr>
          <a:xfrm>
            <a:off x="4892040" y="406908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LATAM Coverage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892040" y="4526280"/>
            <a:ext cx="33832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Mexico 30-50%, Central America 10-25%. Spanish keyword targeting. USMCA = $0 tariff on Mexican candy imports.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It Works: Enrich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772400" y="32004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of 4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3931920" cy="4572000"/>
          </a:xfrm>
          <a:prstGeom prst="roundRect">
            <a:avLst>
              <a:gd name="adj" fmla="val 2326"/>
            </a:avLst>
          </a:prstGeom>
          <a:solidFill>
            <a:srgbClr val="E0F2FE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55448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Contact Enrichment Pipeline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85800" y="21945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Apollo reveals: email, phone, title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85800" y="26060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Email verification (bounce-check)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85800" y="30175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Company data: size, revenue, NAICS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85800" y="34290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Tech stack detection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85800" y="38404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Intent signals (hiring, funding)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85800" y="42519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ICP scoring &amp; segment assignment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85800" y="46634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 Dedup against existing contacts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85800" y="50749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 CRM-ready contact card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754880" y="1371600"/>
            <a:ext cx="3931920" cy="4572000"/>
          </a:xfrm>
          <a:prstGeom prst="roundRect">
            <a:avLst>
              <a:gd name="adj" fmla="val 2326"/>
            </a:avLst>
          </a:prstGeom>
          <a:solidFill>
            <a:srgbClr val="F3F4F6"/>
          </a:solidFill>
          <a:ln/>
        </p:spPr>
      </p:sp>
      <p:sp>
        <p:nvSpPr>
          <p:cNvPr id="15" name="Text 13"/>
          <p:cNvSpPr/>
          <p:nvPr/>
        </p:nvSpPr>
        <p:spPr>
          <a:xfrm>
            <a:off x="4983480" y="155448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Sample Prospect Card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983480" y="2194560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Name: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263640" y="219456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Jane Rodriguez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983480" y="2578608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Title: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263640" y="2578608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 of Procurement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983480" y="2962656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Company: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263640" y="2962656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Southeast Grocers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983480" y="3346704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Email: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263640" y="3346704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jane.r@segrocers.com ✅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983480" y="3730752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Phone: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263640" y="3730752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(305) 555-0142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983480" y="4114800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Size: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263640" y="411480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5,001-10,000 employees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983480" y="4498848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Est. Revenue: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263640" y="4498848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$100M-$500M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983480" y="4882896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Location: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263640" y="4882896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Jacksonville, FL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983480" y="5266944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Segment: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263640" y="5266944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— Enterprise Grocery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983480" y="57607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(Illustrative — not a real contact)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It Works: Reach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772400" y="32004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of 4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65760" y="1371600"/>
            <a:ext cx="2651760" cy="4572000"/>
          </a:xfrm>
          <a:prstGeom prst="roundRect">
            <a:avLst>
              <a:gd name="adj" fmla="val 3448"/>
            </a:avLst>
          </a:prstGeom>
          <a:solidFill>
            <a:srgbClr val="E8F5E9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1371600"/>
            <a:ext cx="2651760" cy="7315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55448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Free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20116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$0/yr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48640" y="24688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prospects/week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2926080"/>
            <a:ext cx="2286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LinkedIn + Apollo. Personal outreach. Best for testing the waters.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46120" y="1371600"/>
            <a:ext cx="2651760" cy="4572000"/>
          </a:xfrm>
          <a:prstGeom prst="roundRect">
            <a:avLst>
              <a:gd name="adj" fmla="val 3448"/>
            </a:avLst>
          </a:prstGeom>
          <a:solidFill>
            <a:srgbClr val="E0F2FE"/>
          </a:solidFill>
          <a:ln/>
        </p:spPr>
      </p:sp>
      <p:sp>
        <p:nvSpPr>
          <p:cNvPr id="11" name="Shape 9"/>
          <p:cNvSpPr/>
          <p:nvPr/>
        </p:nvSpPr>
        <p:spPr>
          <a:xfrm>
            <a:off x="3246120" y="1371600"/>
            <a:ext cx="2651760" cy="7315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3429000" y="155448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Moderate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429000" y="20116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$1,032/yr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429000" y="24688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450 contacts/week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429000" y="2926080"/>
            <a:ext cx="2286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automation via Instantly. Sequenced follow-ups. 9x the reach of Free.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126480" y="1371600"/>
            <a:ext cx="2651760" cy="4572000"/>
          </a:xfrm>
          <a:prstGeom prst="roundRect">
            <a:avLst>
              <a:gd name="adj" fmla="val 3448"/>
            </a:avLst>
          </a:prstGeom>
          <a:solidFill>
            <a:srgbClr val="FFF8E1"/>
          </a:solidFill>
          <a:ln/>
        </p:spPr>
      </p:sp>
      <p:sp>
        <p:nvSpPr>
          <p:cNvPr id="17" name="Shape 15"/>
          <p:cNvSpPr/>
          <p:nvPr/>
        </p:nvSpPr>
        <p:spPr>
          <a:xfrm>
            <a:off x="6126480" y="1371600"/>
            <a:ext cx="2651760" cy="7315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8" name="Text 16"/>
          <p:cNvSpPr/>
          <p:nvPr/>
        </p:nvSpPr>
        <p:spPr>
          <a:xfrm>
            <a:off x="6309360" y="155448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Aggressive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309360" y="20116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$9,072/yr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309360" y="24688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900 contacts/week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309360" y="2926080"/>
            <a:ext cx="2286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Multi-channel — email + SMS + AI voice. 18x reach. Full automation stack.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48640" y="621792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scenarios use the same enrichment pipeline. The difference is reach and automation.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It Works: Convert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772400" y="32004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of 4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3931920" cy="4572000"/>
          </a:xfrm>
          <a:prstGeom prst="roundRect">
            <a:avLst>
              <a:gd name="adj" fmla="val 2326"/>
            </a:avLst>
          </a:prstGeom>
          <a:solidFill>
            <a:srgbClr val="E0F2FE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55448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Funnel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85800" y="2194560"/>
            <a:ext cx="3291840" cy="502920"/>
          </a:xfrm>
          <a:prstGeom prst="roundRect">
            <a:avLst>
              <a:gd name="adj" fmla="val 10909"/>
            </a:avLst>
          </a:prstGeom>
          <a:solidFill>
            <a:srgbClr val="9CA3AF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219456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Prospect — Identified &amp; enriched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960120" y="2880360"/>
            <a:ext cx="2743200" cy="502920"/>
          </a:xfrm>
          <a:prstGeom prst="roundRect">
            <a:avLst>
              <a:gd name="adj" fmla="val 10909"/>
            </a:avLst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960120" y="288036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Opened — Email opened (22%)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234440" y="3566160"/>
            <a:ext cx="2194560" cy="502920"/>
          </a:xfrm>
          <a:prstGeom prst="roundRect">
            <a:avLst>
              <a:gd name="adj" fmla="val 10909"/>
            </a:avLst>
          </a:prstGeom>
          <a:solidFill>
            <a:srgbClr val="065A82"/>
          </a:solidFill>
          <a:ln/>
        </p:spPr>
      </p:sp>
      <p:sp>
        <p:nvSpPr>
          <p:cNvPr id="11" name="Text 9"/>
          <p:cNvSpPr/>
          <p:nvPr/>
        </p:nvSpPr>
        <p:spPr>
          <a:xfrm>
            <a:off x="1234440" y="356616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Replied — Positive reply (3.5%)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508760" y="4251960"/>
            <a:ext cx="1645920" cy="502920"/>
          </a:xfrm>
          <a:prstGeom prst="roundRect">
            <a:avLst>
              <a:gd name="adj" fmla="val 10909"/>
            </a:avLst>
          </a:prstGeom>
          <a:solidFill>
            <a:srgbClr val="21295C"/>
          </a:solidFill>
          <a:ln/>
        </p:spPr>
      </p:sp>
      <p:sp>
        <p:nvSpPr>
          <p:cNvPr id="13" name="Text 11"/>
          <p:cNvSpPr/>
          <p:nvPr/>
        </p:nvSpPr>
        <p:spPr>
          <a:xfrm>
            <a:off x="1508760" y="425196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Meeting — Meeting booked (35%)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783080" y="4937760"/>
            <a:ext cx="1097280" cy="502920"/>
          </a:xfrm>
          <a:prstGeom prst="roundRect">
            <a:avLst>
              <a:gd name="adj" fmla="val 10909"/>
            </a:avLst>
          </a:prstGeom>
          <a:solidFill>
            <a:srgbClr val="10B981"/>
          </a:solidFill>
          <a:ln/>
        </p:spPr>
      </p:sp>
      <p:sp>
        <p:nvSpPr>
          <p:cNvPr id="15" name="Text 13"/>
          <p:cNvSpPr/>
          <p:nvPr/>
        </p:nvSpPr>
        <p:spPr>
          <a:xfrm>
            <a:off x="1783080" y="493776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 — Closed won (18%)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54880" y="1371600"/>
            <a:ext cx="3931920" cy="4572000"/>
          </a:xfrm>
          <a:prstGeom prst="roundRect">
            <a:avLst>
              <a:gd name="adj" fmla="val 2326"/>
            </a:avLst>
          </a:prstGeom>
          <a:solidFill>
            <a:srgbClr val="F3F4F6"/>
          </a:solidFill>
          <a:ln/>
        </p:spPr>
      </p:sp>
      <p:sp>
        <p:nvSpPr>
          <p:cNvPr id="17" name="Text 15"/>
          <p:cNvSpPr/>
          <p:nvPr/>
        </p:nvSpPr>
        <p:spPr>
          <a:xfrm>
            <a:off x="4983480" y="155448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Conversion Metrics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983480" y="21945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Open Rate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858000" y="21945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22%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983480" y="2450592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 benchmark: 18-25%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983480" y="28346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Reply Rate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858000" y="28346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3.5%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983480" y="3090672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 email: 2-5%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983480" y="34747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Reply → Meeting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858000" y="34747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35%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983480" y="3730752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replies that book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4983480" y="4114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Meeting → Deal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858000" y="4114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18%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983480" y="4370832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 outreach close rate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498348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Sales Cycle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85800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45 days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983480" y="5010912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meeting to closed deal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4983480" y="53949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Deal Size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858000" y="5394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$28K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4983480" y="5650992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across 5 segments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Economics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12-Month Projection at Default Parameters</a:t>
            </a:r>
            <a:endParaRPr lang="en-US" sz="1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804672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828800"/>
                <a:gridCol w="2011680"/>
                <a:gridCol w="219456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Metric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Free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Moderate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Aggressive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E293B"/>
                          </a:solidFill>
                        </a:rPr>
                        <a:t>Prospects/Month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E7D32"/>
                          </a:solidFill>
                        </a:rPr>
                        <a:t>217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C7293"/>
                          </a:solidFill>
                        </a:rPr>
                        <a:t>1,949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59E0B"/>
                          </a:solidFill>
                        </a:rPr>
                        <a:t>3,897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E293B"/>
                          </a:solidFill>
                        </a:rPr>
                        <a:t>Meetings/Month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E7D32"/>
                          </a:solidFill>
                        </a:rPr>
                        <a:t>0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C7293"/>
                          </a:solidFill>
                        </a:rPr>
                        <a:t>2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59E0B"/>
                          </a:solidFill>
                        </a:rPr>
                        <a:t>4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E293B"/>
                          </a:solidFill>
                        </a:rPr>
                        <a:t>Deals (12-mo)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E7D32"/>
                          </a:solidFill>
                        </a:rPr>
                        <a:t>5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C7293"/>
                          </a:solidFill>
                        </a:rPr>
                        <a:t>43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59E0B"/>
                          </a:solidFill>
                        </a:rPr>
                        <a:t>72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E293B"/>
                          </a:solidFill>
                        </a:rPr>
                        <a:t>Revenue (12-mo)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E7D32"/>
                          </a:solidFill>
                        </a:rPr>
                        <a:t>$140K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C7293"/>
                          </a:solidFill>
                        </a:rPr>
                        <a:t>$1.2M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59E0B"/>
                          </a:solidFill>
                        </a:rPr>
                        <a:t>$2.0M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E293B"/>
                          </a:solidFill>
                        </a:rPr>
                        <a:t>Gross Profit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E7D32"/>
                          </a:solidFill>
                        </a:rPr>
                        <a:t>$31K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C7293"/>
                          </a:solidFill>
                        </a:rPr>
                        <a:t>$265K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59E0B"/>
                          </a:solidFill>
                        </a:rPr>
                        <a:t>$444K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E293B"/>
                          </a:solidFill>
                        </a:rPr>
                        <a:t>Tool Costs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EF4444"/>
                          </a:solidFill>
                        </a:rPr>
                        <a:t>$0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EF4444"/>
                          </a:solidFill>
                        </a:rPr>
                        <a:t>$1K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EF4444"/>
                          </a:solidFill>
                        </a:rPr>
                        <a:t>$9K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</a:rPr>
                        <a:t>Net Contribution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E7D32"/>
                          </a:solidFill>
                        </a:rPr>
                        <a:t>$31K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C7293"/>
                          </a:solidFill>
                        </a:rPr>
                        <a:t>$264K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59E0B"/>
                          </a:solidFill>
                        </a:rPr>
                        <a:t>$434K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548640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b="1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scenarios share the same conversion assumptions. The difference is reach.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b="1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delivers 9x the prospects for $86/month. Aggressive delivers 18x for $756/month.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548640" y="640080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Commercial SDR Financial Model — default params, 22% margin, $28K avg deal, Feb 2026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Channels, One Strategy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3931920" cy="4114800"/>
          </a:xfrm>
          <a:prstGeom prst="roundRect">
            <a:avLst>
              <a:gd name="adj" fmla="val 2326"/>
            </a:avLst>
          </a:prstGeom>
          <a:solidFill>
            <a:srgbClr val="E0F2FE"/>
          </a:solidFill>
          <a:ln w="19050">
            <a:solidFill>
              <a:srgbClr val="065A8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155448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GovCon Channel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" y="219456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Federal/state food procurement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85800" y="265176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$87M Florida TAM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85800" y="310896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5-year compounding portfolio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85800" y="356616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$841K cumulative owner earnings (v7 model)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85800" y="402336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Post-fraud tailwind: 1,091 firms suspended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85800" y="448056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Agencies need clean vendors now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754880" y="1371600"/>
            <a:ext cx="3931920" cy="4114800"/>
          </a:xfrm>
          <a:prstGeom prst="roundRect">
            <a:avLst>
              <a:gd name="adj" fmla="val 2326"/>
            </a:avLst>
          </a:prstGeom>
          <a:solidFill>
            <a:srgbClr val="F3F4F6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83480" y="155448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Commercial SDR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983480" y="219456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AI-powered outbound prospecting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983480" y="265176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7,531 target companies across 5 segments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983480" y="310896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12-month payback cycle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983480" y="356616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Scales with investment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983480" y="402336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Immediate revenue potential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983480" y="448056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Up to $434K net in Year 1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57200" y="5760720"/>
            <a:ext cx="8229600" cy="822960"/>
          </a:xfrm>
          <a:prstGeom prst="roundRect">
            <a:avLst>
              <a:gd name="adj" fmla="val 11111"/>
            </a:avLst>
          </a:prstGeom>
          <a:solidFill>
            <a:srgbClr val="FFF8E1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580644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channels share the same infrastructure: warehouse, fleet, workforce, relationships.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contract won makes the next one easier.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Questions: Decisions That Calibrate the Model</a:t>
            </a:r>
            <a:endParaRPr lang="en-US" sz="36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82880" y="1188720"/>
          <a:ext cx="8778240" cy="914400"/>
        </p:xfrm>
        <a:graphic>
          <a:graphicData uri="http://schemas.openxmlformats.org/drawingml/2006/table">
            <a:tbl>
              <a:tblPr/>
              <a:tblGrid>
                <a:gridCol w="365760"/>
                <a:gridCol w="2743200"/>
                <a:gridCol w="2743200"/>
                <a:gridCol w="2926080"/>
              </a:tblGrid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#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Question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If Yes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If No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EF4444"/>
                          </a:solidFill>
                        </a:rPr>
                        <a:t>1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What are actual deal sizes by customer type?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E7D32"/>
                          </a:solidFill>
                        </a:rPr>
                        <a:t>Calibrates entire model. Current values are placeholders.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EF4444"/>
                          </a:solidFill>
                        </a:rPr>
                        <a:t>Model uses estimates; directionally right but imprecise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EF4444"/>
                          </a:solidFill>
                        </a:rPr>
                        <a:t>2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What is current gross margin on wholesale deals?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E7D32"/>
                          </a:solidFill>
                        </a:rPr>
                        <a:t>Determines profitability at every scenario level.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EF4444"/>
                          </a:solidFill>
                        </a:rPr>
                        <a:t>22% assumption may over- or under-state returns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59E0B"/>
                          </a:solidFill>
                        </a:rPr>
                        <a:t>3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How many sales reps will handle inbound meetings?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E7D32"/>
                          </a:solidFill>
                        </a:rPr>
                        <a:t>Capacity constraint. More reps = more throughput.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EF4444"/>
                          </a:solidFill>
                        </a:rPr>
                        <a:t>2 reps cap at 40 meetings/mo; may bottleneck Aggressive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59E0B"/>
                          </a:solidFill>
                        </a:rPr>
                        <a:t>4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Which segments to prioritize first?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E7D32"/>
                          </a:solidFill>
                        </a:rPr>
                        <a:t>Focus resources on 1-2 segments for faster traction.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EF4444"/>
                          </a:solidFill>
                        </a:rPr>
                        <a:t>Spreading across all 5 dilutes effort and slows results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59E0B"/>
                          </a:solidFill>
                        </a:rPr>
                        <a:t>5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Willing to invest in Instantly email automation?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E7D32"/>
                          </a:solidFill>
                        </a:rPr>
                        <a:t>Unlocks Moderate scenario (450/wk vs 50/wk).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EF4444"/>
                          </a:solidFill>
                        </a:rPr>
                        <a:t>Free scenario only; manual LinkedIn outreach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C7293"/>
                          </a:solidFill>
                        </a:rPr>
                        <a:t>6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Current close rate on warm introductions?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E7D32"/>
                          </a:solidFill>
                        </a:rPr>
                        <a:t>Baseline calibration. Cold outreach typically 40-60% lower.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EF4444"/>
                          </a:solidFill>
                        </a:rPr>
                        <a:t>We use 18% default for cold; adjust if warm rate known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C7293"/>
                          </a:solidFill>
                        </a:rPr>
                        <a:t>7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Interest in LATAM candy import/export?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E7D32"/>
                          </a:solidFill>
                        </a:rPr>
                        <a:t>Expands Seg E scope. USMCA = $0 tariff from Mexico.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EF4444"/>
                          </a:solidFill>
                        </a:rPr>
                        <a:t>Focus US-only Seg E; still 1,831 firms to target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C7293"/>
                          </a:solidFill>
                        </a:rPr>
                        <a:t>8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Existing CRM or sales tracking system?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E7D32"/>
                          </a:solidFill>
                        </a:rPr>
                        <a:t>Integrate SDR pipeline into existing workflow.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EF4444"/>
                          </a:solidFill>
                        </a:rPr>
                        <a:t>Recommend HubSpot Free CRM or Google Sheets tracker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293B"/>
                          </a:solidFill>
                        </a:rPr>
                        <a:t>9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What does a typical sales cycle look like today?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E7D32"/>
                          </a:solidFill>
                        </a:rPr>
                        <a:t>Calibrates 45-day default. Shorter = faster revenue.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EF4444"/>
                          </a:solidFill>
                        </a:rPr>
                        <a:t>We keep 45-day assumption; conservative but standard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293B"/>
                          </a:solidFill>
                        </a:rPr>
                        <a:t>10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Any existing outbound prospecting?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E7D32"/>
                          </a:solidFill>
                        </a:rPr>
                        <a:t>Baseline comparison. SDR adds to existing effort.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EF4444"/>
                          </a:solidFill>
                        </a:rPr>
                        <a:t>Greenfield — all SDR revenue is incremental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548640" y="64008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questions directly change the financial model. Answering them lets us customize projections to Newport’s actual situation.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65A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700000">
            <a:off x="6400800" y="4572000"/>
            <a:ext cx="3657600" cy="3657600"/>
          </a:xfrm>
          <a:prstGeom prst="rect">
            <a:avLst/>
          </a:prstGeom>
          <a:solidFill>
            <a:srgbClr val="1C7293">
              <a:alpha val="3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73152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Next Steps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31520" y="1828800"/>
            <a:ext cx="6858000" cy="822960"/>
          </a:xfrm>
          <a:prstGeom prst="roundRect">
            <a:avLst>
              <a:gd name="adj" fmla="val 8889"/>
            </a:avLst>
          </a:prstGeom>
          <a:solidFill>
            <a:srgbClr val="21295C">
              <a:alpha val="5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2011680"/>
            <a:ext cx="457200" cy="457200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9933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508760" y="187452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Answer Key Questions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508760" y="2194560"/>
            <a:ext cx="5943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>
                    <a:alpha val="9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the 10 questions. Your answers calibrate the model to Newport’s actual deal sizes, margins, and capacity.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31520" y="2926080"/>
            <a:ext cx="6858000" cy="822960"/>
          </a:xfrm>
          <a:prstGeom prst="roundRect">
            <a:avLst>
              <a:gd name="adj" fmla="val 8889"/>
            </a:avLst>
          </a:prstGeom>
          <a:solidFill>
            <a:srgbClr val="21295C">
              <a:alpha val="5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868680" y="3108960"/>
            <a:ext cx="457200" cy="457200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30906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508760" y="297180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Choose a Segment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508760" y="3291840"/>
            <a:ext cx="5943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>
                    <a:alpha val="9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1-2 priority segments for focused results. We recommend Segment A (Enterprise Grocery) and E (Candy).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31520" y="4023360"/>
            <a:ext cx="6858000" cy="822960"/>
          </a:xfrm>
          <a:prstGeom prst="roundRect">
            <a:avLst>
              <a:gd name="adj" fmla="val 8889"/>
            </a:avLst>
          </a:prstGeom>
          <a:solidFill>
            <a:srgbClr val="21295C">
              <a:alpha val="5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868680" y="4206240"/>
            <a:ext cx="457200" cy="457200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41879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508760" y="406908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Pick Your Scenario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508760" y="4389120"/>
            <a:ext cx="5943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>
                    <a:alpha val="9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Free, Moderate, or Aggressive — match your comfort level. You can always scale up after initial results.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31520" y="5120640"/>
            <a:ext cx="6858000" cy="822960"/>
          </a:xfrm>
          <a:prstGeom prst="roundRect">
            <a:avLst>
              <a:gd name="adj" fmla="val 8889"/>
            </a:avLst>
          </a:prstGeom>
          <a:solidFill>
            <a:srgbClr val="21295C">
              <a:alpha val="5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868680" y="5303520"/>
            <a:ext cx="457200" cy="457200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868680" y="52852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508760" y="516636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30-Day Pilot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508760" y="5486400"/>
            <a:ext cx="5943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>
                    <a:alpha val="9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segment, one scenario, real results in 30 days. Measure opens, replies, meetings, and pipeline.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31520" y="621792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Zack  |  Still Mind Creative  |  zack@stillmindcreative.com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Still Mind Creative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Systematic Growth for Newport Wholesalers</dc:title>
  <dc:subject>Newport Wholesalers Commercial SDR Proposal</dc:subject>
  <dc:creator>Still Mind Creative</dc:creator>
  <cp:lastModifiedBy>Still Mind Creative</cp:lastModifiedBy>
  <cp:revision>1</cp:revision>
  <dcterms:created xsi:type="dcterms:W3CDTF">2026-02-27T21:34:06Z</dcterms:created>
  <dcterms:modified xsi:type="dcterms:W3CDTF">2026-02-27T21:34:06Z</dcterms:modified>
</cp:coreProperties>
</file>