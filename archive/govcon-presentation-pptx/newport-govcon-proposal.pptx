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914400" y="5486400"/>
            <a:ext cx="2743200" cy="27432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7772400" y="-1371600"/>
            <a:ext cx="2286000" cy="2286000"/>
          </a:xfrm>
          <a:prstGeom prst="rect">
            <a:avLst/>
          </a:prstGeom>
          <a:solidFill>
            <a:srgbClr val="21295C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Unlocking Government Revenue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Newport Wholesalers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Wholesale Distribution.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Channel for Predictable Revenue.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035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Still Mind Creative  |  February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Newport Wins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Years of Continuous Operations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decades of uninterrupted wholesale distribution in Florida. Real warehouse, real fleet, real W-2 workforce. The kind of audit trail agencies need — and can't be manufactured.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Post-DOGE Competitive Moat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20574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agencies are under pressure to verify vendor legitimacy after fraud crackdowns. Newport's 30-year history, clean audit trail, and transparent operations are exactly what procurement officers want to see.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Already in Place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526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Trucks, routes, cold chain, warehouse — all operating. Government delivery is incremental volume on existing routes. Competitors #5-10 in FL are doing $1-5M with less infrastructure.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384048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E0F2FE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4023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Past Performance Required (Year 1)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452628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FL food contracts are micro-purchases under $15K — no past performance required. 93% of DoD grocery contracts are sole-source. Commercial experience qualifies for entry.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Florida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Food Contracts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$17-20M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2044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Biddable FL Contracts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Newport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64592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46520" y="2834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Rate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Grocery at DoD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FL food contracts totaling $6.4M confirmed in FPDS — most with ZERO competing bids.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biddable market is $17-20M with micro-purchases and state/local included.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FPDS FY2025, USASpending API, FL state procurement data — Feb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Narrowing to Newport's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463040"/>
            <a:ext cx="640080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463040"/>
            <a:ext cx="64008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$87M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03920" y="15544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 food contracts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(federal + state/local)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▼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3291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3291840"/>
            <a:ext cx="41148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$17-20M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3840480"/>
            <a:ext cx="4114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03920" y="33832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Newport can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on today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CA3AF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29000" y="512064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5120640"/>
            <a:ext cx="228600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$6.4M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29000" y="566928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FPDS Visible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52120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 tracked contracts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(&gt;$10K, on record)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awards are micro-purchases (&lt;$15K) invisible in FPDS. Paid tools like GovSpend reveal $8-15M/yr in additional FL transactions.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Newport's Edge: The Confectionery Gap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PSC 8925: Confectionery &amp; Nuts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$55M national spending, $412K in FL alone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697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Only 45 awards nationally — tiny, fragmented market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58% sole-source — incumbents rarely challenged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Newport's Segment E candy expertise = direct competitive advantage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Existing supplier relationships and wholesale pricing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4709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Few competitors even know this category exists in gov procurement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554480"/>
            <a:ext cx="3657600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5166360" y="21945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Sole-Source Rate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Confectionery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38328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566160"/>
            <a:ext cx="36576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5166360" y="4023360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National Awards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(Lowest of All Food PSCs)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502920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5212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1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166360" y="5486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Category for Newport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FPDS FY2025, PSC 8925 — Confectionery &amp; Nuts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Buying: Target Agencies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DOJ / Bureau of Prisons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$3.7M / 71 contracts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FL food buyer. Rainmaker doing $5M — direct competitive target. Prison food supply is steady, recurring.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371600"/>
            <a:ext cx="384048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54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Military / DoD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 / 43 contracts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2860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sole-source grocery. MacDill AFB, Homestead ARB, NAS Jax, Patrick SFB. DeCA commissaries.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931920"/>
            <a:ext cx="3840480" cy="73152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 / Emergency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Disaster-driven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846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is #1 state for disaster declarations. Pistol Point got $22.7M for Hurricane Helene food delivery. Disaster registry entry.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3931920"/>
            <a:ext cx="3840480" cy="22860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663440" y="3931920"/>
            <a:ext cx="384048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School Districts (SLED)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480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$500M-$1B FL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4846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State/local, not in federal data. Miami-Dade, Broward, Palm Beach — 67 FL districts. Separate procurement portals.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FPDS FY2025, USASpending API, FL state procurement data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Competition: Where Newport Fits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137160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FL Gov Awards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#1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Oakes Farms Food &amp; Distribution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$26.1M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Naples, FL — produce focus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#2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US Foods Inc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$24.1M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National distributor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#3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JNS Foods LLC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$6.8M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FL-based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#4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Sysco Central Florida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$5.1M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National distributor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#5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Rainmaker Inc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$5.1M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FL DOJ prison contracts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#6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Freedom Fresh LLC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$4.2M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FL-based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#7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Matts Trading Inc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$2.6M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FL-based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#8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</a:rPr>
                        <a:t>Wholesome Foods Products LLC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$2.0M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FL-based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502920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E0F2FE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120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Newport's Entry Point: $1-5M Tier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5486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#5-10 are small FL companies with less infrastructure than Newport. The top two (Oakes $26M, US Foods $24M) prove the model works at scale. Newport enters at #5-10 tier with superior distribution infrastructure.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USASpending API, FY2024 FL food contracts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Finding Opportunities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Federal: SAM.gov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monitoring of all food/grocery solicitations. 117 FL contracts identified. Our system scores each opportunity and sends daily digests.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(built)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508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State: MyFloridaMarketPlace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FL's $600M-$1.2B state procurement portal. School districts, corrections, state agencies. Separate from federal pipeline — massive opportunity.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registration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Micro-Purchases: GovSpend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food awards are micro-purchases (&lt;$15K) invisible on SAM.gov. GovSpend reveals $8-15M/yr in FL transactions you can't see otherwise.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5669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$6.5K/yr (optional)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931920"/>
            <a:ext cx="3840480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4069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Set-Asides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45262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eligible for SDB, HUBZone, or 8(a), win rates jump to 28%+ with 25% margins. Set-aside contracts are less competitive by design.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56692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if eligible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Evaluating &amp; Bidding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E0F2F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Bid/No-Bid Scoring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opportunity gets a 0-100 score across 9 weighted factors: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Contract value &amp; margin potential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8163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Competition density (# bidders)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316382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Geographic match (FL delivery)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351129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Product category alignment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858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Past performance requirements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Set-aside eligibility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45537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Timeline feasibility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9011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Relationship potential (recurring)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5248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Strategic value (reference-building)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Proposal Preparation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8348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Statement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3774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overview of Newport's qualifications, NAICS codes, past performance, and differentiators.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3832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Newport will fulfill the specific contract requirements — delivery schedule, cold chain, quality control.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3891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leveraging Newport's wholesale cost advantage. LPTA evaluation = lowest price wins.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5120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5394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SAM.gov registration, insurance certificates, food safety certifications as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Managing the Pipeline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772400" y="320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9CA3A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SAM.gov match found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7452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0312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Bid/no-bid evaluated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1188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Pursuing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in progress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4924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7784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Submitted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delivered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1645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146304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14630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0116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won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Opportunity Digest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matches from SAM.gov scored and delivered to your inbox every morning. No manual checking required.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3017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Decision-Maker Outreach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high-value opportunities, we identify contracting officers and program managers. Build relationships before RFPs drop.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F3F4F6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Dashboard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09360" y="37490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tracking: deadlines, stages, win rates, projected revenue. Monthly reporting on pipeline health and bid performance.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Routes: Start Free or Go Full Coverage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Free Route ($0/yr)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Paid Route ($13K/yr)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Federal Monitoring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SAM.gov API (built) — 117 FL contracts visible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+ CLEATUS AI scoring ($3K/yr)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State/Local (FL $600M+)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Manual portal checking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HigherGov — 40K+ agencies ($3.5K/yr)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Micro-Purchases (83% invisible)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Cannot see $8-15M/yr FL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GovSpend — 1,500+ FL transactions ($6.5K/yr)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Competitive Intel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USASpending + FPDS (built)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Same (already strong)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</a:rPr>
                        <a:t>Market Coverage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~40-50% ($6.4M visible)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~90%+ ($19-33M visible)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5-Year Contracts Won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~52 contracts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104+ contracts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5-Year Cumulative Revenue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$3.2M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$6.5M+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5-Year Renewals (recurring)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~33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</a:rPr>
                        <a:t>82+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486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Paid Route bids more, gets feedback faster, and compounds the portfolio sooner. Both routes use the same intelligence system.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Strategy: Credibility Waterfall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Micro-purchases are a loss leader — do the minimum needed to build a track record, then leverage it into larger, profitable contracts.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2763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 1: Build the Track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Micro-purchases (&lt;$15K) are the loss leader. Win 8-12 at break-even or small loss to establish past performance. Simultaneously bid on larger FL opportunities that don't require experience — sole-source, low-competition, and set-aside contracts.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Minimum viable credibility at minimum cost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2944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246120"/>
            <a:ext cx="109728" cy="1417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92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2-3: Leverage &amp; Compound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from Year 1 unlocks $15K-$250K simplified acquisitions — where the real margins are. Phase out any money-losing micros. Renewals at 70% start compounding the portfolio. Every win builds the reference list for the next, larger opportunity.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251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active contracts → $985K revenue → phase out micros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4636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937760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01091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4-5: Incumbent Advantage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32180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vendor status on renewals. Win rates climb to 25%+. Portfolio of 50-70 active contracts generates predictable recurring revenue. Newport is now an established government vendor competing for contracts others can't touch.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active contracts → $3.0M revenue → $841K cumulative earnings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 are the price of admission — not the destination. Each phase funds and enables the next.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5-Year Financial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Earnings: What Newport Actually Keeps After All Costs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280160"/>
                <a:gridCol w="1280160"/>
                <a:gridCol w="128016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Bids Submitted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130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Contracts Won (New)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Active Contracts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Renewed (70%)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Revenue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$440K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$985K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$1.9M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$3.0M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</a:rPr>
                        <a:t>Gross Profit (22%)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$22K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$97K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$217K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$423K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$661K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Bid Prep Costs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($22K)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($50K)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($77K)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($98K)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($110K)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Fulfillment (3%)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($3K)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($13K)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($30K)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($58K)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($90K)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Program Costs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($11K)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($6K)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($5K)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($4K)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($4K)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Owner Earnings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-$14K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$27K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$106K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$264K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</a:rPr>
                        <a:t>$457K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Cumulative OE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-$14K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$14K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$119K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$383K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</a:rPr>
                        <a:t>$841K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60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builds credibility at modest cost. Renewals at 70% create compounding portfolio. By Year 5, Owner Earnings reach $457K/yr with $841K cumulative.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v7 Financial Model — conservative assumptions, 22% gross margin, 70% renewal rate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Compounding Flywheel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contracts stack on new wins — predictable, recurring revenue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5303520"/>
            <a:ext cx="6400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2519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4389120"/>
            <a:ext cx="6400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6400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23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6400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71600" y="1645920"/>
            <a:ext cx="6400800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45920" y="4781006"/>
            <a:ext cx="914400" cy="52251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4781006"/>
            <a:ext cx="914400" cy="5225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4592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446096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4937760"/>
            <a:ext cx="9144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4937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4206240"/>
            <a:ext cx="91440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0" y="4206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2608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2608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4519749"/>
            <a:ext cx="914400" cy="78377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4519749"/>
            <a:ext cx="914400" cy="783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3526971"/>
            <a:ext cx="914400" cy="992777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3526971"/>
            <a:ext cx="914400" cy="992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320693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4049486"/>
            <a:ext cx="914400" cy="125403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0" y="4049486"/>
            <a:ext cx="914400" cy="1254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0" y="2638697"/>
            <a:ext cx="914400" cy="1410789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2638697"/>
            <a:ext cx="914400" cy="1410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231865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66560" y="3422469"/>
            <a:ext cx="914400" cy="1881051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3422469"/>
            <a:ext cx="914400" cy="18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1645920"/>
            <a:ext cx="914400" cy="1776549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1645920"/>
            <a:ext cx="914400" cy="1776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5394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66560" y="1325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71600" y="5852160"/>
            <a:ext cx="274320" cy="228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5833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Wins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5852160"/>
            <a:ext cx="274320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3566160" y="5833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(70%)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 rot="16200000">
            <a:off x="914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Y-Axis: Active Contracts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&amp; Compliance: Lower Barrier Than You Think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Timeline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SAM.gov Registration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2-4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MFMP Vendor Registration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1-2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Food Safety Cert (SQF/GFSI)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$0-$23.5K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3-6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General Liability Insurance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$1.5-3K/yr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Immediate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Legal Review (GSA terms)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$2.5-5K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2-4 weeks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required investment: $4K-$31.5K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(depends on existing certifications)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DON'T Need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828800"/>
          <a:ext cx="39319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 Avoided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DCAA-Compliant Accounting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$50-150K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CMMC Cybersecurity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$25-100K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Cost Accounting Standards (CAS)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$20-50K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Performance Bonds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$10-30K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Facility Clearance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7D32"/>
                          </a:solidFill>
                        </a:rPr>
                        <a:t>$15K+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$120-360K in compliance costs avoided.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supply contracts are simpler than most gov work.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0F2FE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" y="4892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Misconception: Government contracting requires expensive certifications and complex compliance.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0080" y="5212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Food supply contracts under $250K need SAM.gov registration (free), standard insurance, and food safety certification. That's it. DCAA, CMMC, and CAS apply to IT and defense — not food procurement.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Executing the Strategy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E0F2FE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Takes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0574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SAM.gov registration (free, 2-4 weeks)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2450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State portal registrations (free)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843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Food safety cert if not current ($0-$23.5K)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2369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Insurance review ($1.5-3K/yr if needed)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630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Legal review of gov terms ($2.5-5K one-time)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Daily monitoring &amp; bid pipeline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4165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Capability statements &amp; proposals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48097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Competitive intelligence &amp; scoring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3F4F6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087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Can Help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monitoring system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SAM.gov scanning, scoring, daily digests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intelligence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analysis, bid scoring, market tracking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the bid lifecycle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Proposals, compliance docs, pipeline management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strategy &amp; reporting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4663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reviews, model calibration, market updates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Newport focuses on fulfilling orders and growing the business. Everything else can be handled.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Questions: What We Need to Know</a:t>
            </a:r>
            <a:endParaRPr lang="en-US" sz="3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200400"/>
                <a:gridCol w="5029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1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How much are you willing to invest to build a government track record?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Free route: $0 cost, ~52 contracts over 5 yrs, ~$3.2M revenue. Paid route: $13K/yr, 104+ contracts, $6.5M+ revenue. Paid = more bids, faster feedback, steeper learning curve.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F4444"/>
                          </a:solidFill>
                        </a:rPr>
                        <a:t>2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Eligible for SDB/HUBZone/8(a) set-aside?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Win rates 28%+, margins 25%. Available from Day 1.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3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What geographic area can you realistically service?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FL only = $87M TAM. SE region expands to $179M. Drives contract eligibility.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4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What products can you deliver against typical contract requirements?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Determines which NAICS/PSC codes to bid on and which agencies to target.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5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Do you have warehouse capacity for government order volumes?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Can fulfill larger contracts immediately. Opens simplified acquisitions.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</a:rPr>
                        <a:t>6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What is your cash flow position given gov payment terms (Net 30-60)?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Can absorb payment lag. Enables bidding on larger contracts.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</a:rPr>
                        <a:t>7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Existing food safety certs (SQF/GFSI)?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Year 1 investment drops by $23,500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</a:rPr>
                        <a:t>8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Can add delivery routes to military bases or prisons?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DOJ/BOP channel opens ($5M+ FL). Rainmaker Inc. is beatable.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C7293"/>
                          </a:solidFill>
                        </a:rPr>
                        <a:t>9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Current commercial gross margin?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Calibrates if gov margins (18-25%) are accretive or dilutive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Goal: supplemental revenue or primary growth channel?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</a:rPr>
                        <a:t>Aggressive investment and staffing trajectory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355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answers calibrate the model. We customize projections to Newport’s actual capabilities, capacity, and investment appetite.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7772400" y="5486400"/>
            <a:ext cx="2286000" cy="2286000"/>
          </a:xfrm>
          <a:prstGeom prst="rect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55648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62763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9659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10 questions. Your answers calibrate the model to Newport's actual capabilities and investment appetite.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269748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77063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on SAM.gov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1089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registration, 2-4 weeks. This is the gateway to all federal contracting.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041648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91363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Your Route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42519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($0) or Paid ($13K/yr). Paid = more bids, faster feedback, steeper learning curve.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4983480"/>
            <a:ext cx="7315200" cy="868680"/>
          </a:xfrm>
          <a:prstGeom prst="roundRect">
            <a:avLst>
              <a:gd name="adj" fmla="val 8421"/>
            </a:avLst>
          </a:prstGeom>
          <a:solidFill>
            <a:srgbClr val="21295C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84648"/>
            <a:ext cx="457200" cy="457200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056632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Bids Within 30 Days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5394960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SAM.gov is active, daily monitoring begins and first bids go out within 30 days.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6309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Zack  |  Still Mind Creative  |  zack@stillmindcreative.com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Still Mind Creative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Unlocking Government Revenue for Newport Wholesalers</dc:title>
  <dc:subject>Newport Wholesalers Government Contracting Proposal</dc:subject>
  <dc:creator>Still Mind Creative</dc:creator>
  <cp:lastModifiedBy>Still Mind Creative</cp:lastModifiedBy>
  <cp:revision>1</cp:revision>
  <dcterms:created xsi:type="dcterms:W3CDTF">2026-02-27T21:34:03Z</dcterms:created>
  <dcterms:modified xsi:type="dcterms:W3CDTF">2026-02-27T21:34:03Z</dcterms:modified>
</cp:coreProperties>
</file>